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embeddedFontLst>
    <p:embeddedFont>
      <p:font typeface="Inter" panose="020B0604020202020204" charset="0"/>
      <p:regular r:id="rId14"/>
    </p:embeddedFont>
    <p:embeddedFont>
      <p:font typeface="Inter Bold" panose="020B0604020202020204" charset="0"/>
      <p:regular r:id="rId15"/>
    </p:embeddedFont>
    <p:embeddedFont>
      <p:font typeface="Helvetica Neue" panose="020B0604020202020204" charset="0"/>
      <p:regular r:id="rId16"/>
      <p:bold r:id="rId17"/>
      <p:italic r:id="rId18"/>
      <p:boldItalic r:id="rId19"/>
    </p:embeddedFont>
    <p:embeddedFont>
      <p:font typeface="DM Sans Medium" panose="020B0604020202020204" charset="0"/>
      <p:regular r:id="rId20"/>
    </p:embeddedFont>
    <p:embeddedFont>
      <p:font typeface="Calibri Light" panose="020F0302020204030204" pitchFamily="34" charset="0"/>
      <p:regular r:id="rId21"/>
      <p:italic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301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bc379c7b1_0_5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6bc379c7b1_0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261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6bc379c7b1_10_63"/>
          <p:cNvSpPr txBox="1">
            <a:spLocks noGrp="1"/>
          </p:cNvSpPr>
          <p:nvPr>
            <p:ph type="body" idx="1"/>
          </p:nvPr>
        </p:nvSpPr>
        <p:spPr>
          <a:xfrm>
            <a:off x="450502" y="4447448"/>
            <a:ext cx="8239163" cy="238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171450" lvl="0" indent="-857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1350" b="1"/>
            </a:lvl1pPr>
            <a:lvl2pPr marL="342900" lvl="1" indent="-138446" algn="l">
              <a:lnSpc>
                <a:spcPct val="90000"/>
              </a:lnSpc>
              <a:spcBef>
                <a:spcPts val="1688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514350" lvl="2" indent="-138446" algn="l">
              <a:lnSpc>
                <a:spcPct val="90000"/>
              </a:lnSpc>
              <a:spcBef>
                <a:spcPts val="1688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685800" lvl="3" indent="-138446" algn="l">
              <a:lnSpc>
                <a:spcPct val="90000"/>
              </a:lnSpc>
              <a:spcBef>
                <a:spcPts val="1688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857250" lvl="4" indent="-138446" algn="l">
              <a:lnSpc>
                <a:spcPct val="90000"/>
              </a:lnSpc>
              <a:spcBef>
                <a:spcPts val="1688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1028700" lvl="5" indent="-138446" algn="l">
              <a:lnSpc>
                <a:spcPct val="90000"/>
              </a:lnSpc>
              <a:spcBef>
                <a:spcPts val="1688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1200150" lvl="6" indent="-138446" algn="l">
              <a:lnSpc>
                <a:spcPct val="90000"/>
              </a:lnSpc>
              <a:spcBef>
                <a:spcPts val="1688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1371600" lvl="7" indent="-138446" algn="l">
              <a:lnSpc>
                <a:spcPct val="90000"/>
              </a:lnSpc>
              <a:spcBef>
                <a:spcPts val="1688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1543050" lvl="8" indent="-138446" algn="l">
              <a:lnSpc>
                <a:spcPct val="90000"/>
              </a:lnSpc>
              <a:spcBef>
                <a:spcPts val="1688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g36bc379c7b1_10_63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163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435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36bc379c7b1_10_63"/>
          <p:cNvSpPr txBox="1">
            <a:spLocks noGrp="1"/>
          </p:cNvSpPr>
          <p:nvPr>
            <p:ph type="body" idx="2"/>
          </p:nvPr>
        </p:nvSpPr>
        <p:spPr>
          <a:xfrm>
            <a:off x="450503" y="2708696"/>
            <a:ext cx="8239163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171450" lvl="0" indent="-857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063" b="1"/>
            </a:lvl1pPr>
            <a:lvl2pPr marL="342900" lvl="1" indent="-857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063" b="1"/>
            </a:lvl2pPr>
            <a:lvl3pPr marL="514350" lvl="2" indent="-857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063" b="1"/>
            </a:lvl3pPr>
            <a:lvl4pPr marL="685800" lvl="3" indent="-857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063" b="1"/>
            </a:lvl4pPr>
            <a:lvl5pPr marL="857250" lvl="4" indent="-857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063" b="1"/>
            </a:lvl5pPr>
            <a:lvl6pPr marL="1028700" lvl="5" indent="-138446" algn="l">
              <a:lnSpc>
                <a:spcPct val="90000"/>
              </a:lnSpc>
              <a:spcBef>
                <a:spcPts val="1688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1200150" lvl="6" indent="-138446" algn="l">
              <a:lnSpc>
                <a:spcPct val="90000"/>
              </a:lnSpc>
              <a:spcBef>
                <a:spcPts val="1688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1371600" lvl="7" indent="-138446" algn="l">
              <a:lnSpc>
                <a:spcPct val="90000"/>
              </a:lnSpc>
              <a:spcBef>
                <a:spcPts val="1688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1543050" lvl="8" indent="-138446" algn="l">
              <a:lnSpc>
                <a:spcPct val="90000"/>
              </a:lnSpc>
              <a:spcBef>
                <a:spcPts val="1688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pic>
        <p:nvPicPr>
          <p:cNvPr id="15" name="Google Shape;15;g36bc379c7b1_10_63" descr="pasted-movie.heif"/>
          <p:cNvPicPr preferRelativeResize="0"/>
          <p:nvPr/>
        </p:nvPicPr>
        <p:blipFill rotWithShape="1">
          <a:blip r:embed="rId2">
            <a:alphaModFix/>
          </a:blip>
          <a:srcRect t="388" r="85449" b="9056"/>
          <a:stretch/>
        </p:blipFill>
        <p:spPr>
          <a:xfrm>
            <a:off x="57646" y="-16462"/>
            <a:ext cx="748718" cy="838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g36bc379c7b1_10_63" descr="pasted-movie.heif"/>
          <p:cNvPicPr preferRelativeResize="0"/>
          <p:nvPr/>
        </p:nvPicPr>
        <p:blipFill rotWithShape="1">
          <a:blip r:embed="rId2">
            <a:alphaModFix/>
          </a:blip>
          <a:srcRect l="50059" r="34355" b="9675"/>
          <a:stretch/>
        </p:blipFill>
        <p:spPr>
          <a:xfrm>
            <a:off x="8321320" y="80201"/>
            <a:ext cx="618636" cy="64524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6bc379c7b1_10_63"/>
          <p:cNvSpPr txBox="1">
            <a:spLocks noGrp="1"/>
          </p:cNvSpPr>
          <p:nvPr>
            <p:ph type="sldNum" idx="12"/>
          </p:nvPr>
        </p:nvSpPr>
        <p:spPr>
          <a:xfrm>
            <a:off x="4500562" y="4633584"/>
            <a:ext cx="138150" cy="41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675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675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675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675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675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675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675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675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675"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203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bc379c7b1_0_551"/>
          <p:cNvSpPr txBox="1">
            <a:spLocks noGrp="1"/>
          </p:cNvSpPr>
          <p:nvPr>
            <p:ph type="body" idx="1"/>
          </p:nvPr>
        </p:nvSpPr>
        <p:spPr>
          <a:xfrm>
            <a:off x="4941019" y="3043645"/>
            <a:ext cx="3928661" cy="11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38" tIns="17138" rIns="17138" bIns="17138" anchor="t" anchorCtr="0">
            <a:normAutofit/>
          </a:bodyPr>
          <a:lstStyle/>
          <a:p>
            <a:pPr marL="0" indent="0"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</a:p>
          <a:p>
            <a:pPr marL="0" indent="0"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Baskar, Professor</a:t>
            </a:r>
          </a:p>
          <a:p>
            <a:pPr marL="0" indent="0"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g36bc379c7b1_0_551"/>
          <p:cNvSpPr txBox="1">
            <a:spLocks noGrp="1"/>
          </p:cNvSpPr>
          <p:nvPr>
            <p:ph type="title"/>
          </p:nvPr>
        </p:nvSpPr>
        <p:spPr>
          <a:xfrm>
            <a:off x="452436" y="1437400"/>
            <a:ext cx="8239163" cy="9573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9050" tIns="19050" rIns="19050" bIns="19050" anchor="ctr" anchorCtr="0">
            <a:normAutofit/>
          </a:bodyPr>
          <a:lstStyle/>
          <a:p>
            <a:pPr lvl="0" algn="ctr">
              <a:buClr>
                <a:schemeClr val="accent1"/>
              </a:buClr>
            </a:pPr>
            <a:r>
              <a:rPr lang="en-GB" sz="225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of an AI Prompt Validation and Safety </a:t>
            </a:r>
            <a:r>
              <a:rPr lang="en-GB" sz="225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Analyzer</a:t>
            </a:r>
            <a:r>
              <a:rPr lang="en-GB" sz="225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Context-Free Grammar and Finite Automata</a:t>
            </a:r>
            <a:endParaRPr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Google Shape;92;g36bc379c7b1_0_551"/>
          <p:cNvSpPr txBox="1">
            <a:spLocks noGrp="1"/>
          </p:cNvSpPr>
          <p:nvPr>
            <p:ph type="body" idx="2"/>
          </p:nvPr>
        </p:nvSpPr>
        <p:spPr>
          <a:xfrm>
            <a:off x="1005509" y="2852134"/>
            <a:ext cx="3200288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indent="0">
              <a:buSzPts val="4500"/>
            </a:pPr>
            <a:r>
              <a:rPr lang="en-US" sz="135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Srivarsha</a:t>
            </a: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 M</a:t>
            </a: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/>
            </a:r>
            <a:b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</a:b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192371010</a:t>
            </a:r>
            <a:endParaRPr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Google Shape;93;g36bc379c7b1_0_551"/>
          <p:cNvSpPr txBox="1">
            <a:spLocks noGrp="1"/>
          </p:cNvSpPr>
          <p:nvPr>
            <p:ph type="sldNum" idx="12"/>
          </p:nvPr>
        </p:nvSpPr>
        <p:spPr>
          <a:xfrm>
            <a:off x="4524394" y="4697704"/>
            <a:ext cx="90563" cy="350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/>
          <a:p>
            <a:fld id="{00000000-1234-1234-1234-123412341234}" type="slidenum">
              <a:rPr lang="en-US"/>
              <a:pPr/>
              <a:t>1</a:t>
            </a:fld>
            <a:endParaRPr/>
          </a:p>
        </p:txBody>
      </p:sp>
      <p:sp>
        <p:nvSpPr>
          <p:cNvPr id="94" name="Google Shape;94;g36bc379c7b1_0_551"/>
          <p:cNvSpPr txBox="1"/>
          <p:nvPr/>
        </p:nvSpPr>
        <p:spPr>
          <a:xfrm>
            <a:off x="1002694" y="3714898"/>
            <a:ext cx="3200288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lvl="0">
              <a:buSzPts val="4500"/>
            </a:pPr>
            <a:r>
              <a:rPr lang="en-US" sz="1350" b="1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MUPPALLA MADHU RUSHWIKA</a:t>
            </a:r>
            <a:r>
              <a:rPr lang="en-US" sz="1350" b="1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/>
            </a:r>
            <a:br>
              <a:rPr lang="en-US" sz="1350" b="1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</a:br>
            <a:r>
              <a:rPr lang="en-US" sz="1350" b="1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192371066</a:t>
            </a:r>
            <a:endParaRPr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Google Shape;95;g36bc379c7b1_0_551"/>
          <p:cNvSpPr txBox="1"/>
          <p:nvPr/>
        </p:nvSpPr>
        <p:spPr>
          <a:xfrm>
            <a:off x="452437" y="480027"/>
            <a:ext cx="8239163" cy="9573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9050" tIns="19050" rIns="19050" bIns="19050" anchor="ctr" anchorCtr="0">
            <a:normAutofit/>
          </a:bodyPr>
          <a:lstStyle/>
          <a:p>
            <a:pPr algn="ctr">
              <a:lnSpc>
                <a:spcPct val="80000"/>
              </a:lnSpc>
              <a:buClr>
                <a:srgbClr val="EB220C"/>
              </a:buClr>
              <a:buSzPts val="6032"/>
            </a:pPr>
            <a:r>
              <a:rPr lang="en-US" sz="2250" b="1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SIMATS ENGINEERING</a:t>
            </a:r>
            <a:br>
              <a:rPr lang="en-US" sz="2250" b="1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</a:br>
            <a:r>
              <a:rPr lang="en-US" sz="2250" b="1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Saveetha Institute of Medical and Technical Sciences</a:t>
            </a:r>
            <a:br>
              <a:rPr lang="en-US" sz="2250" b="1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</a:br>
            <a:r>
              <a:rPr lang="en-US" sz="2250" b="1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Chennai-602105.</a:t>
            </a:r>
            <a:endParaRPr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431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6879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 Prompt Validator &amp; Safety Analyzer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463249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relies on user prompts, but invalid or unsafe prompts can produce inaccurate or harmful outputs</a:t>
            </a:r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uses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Context-Free Grammar (CFG)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validate prompt structure and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Automata (FA)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prompt safety</a:t>
            </a:r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an AI can give the right answer, it must first receive the right and safe question</a:t>
            </a:r>
            <a:endParaRPr lang="en-GB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ensures that only well-formed and safe prompts are forwarded to the AI model for processing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1956"/>
            <a:ext cx="8151763" cy="34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Problem &amp; Motivation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85813"/>
            <a:ext cx="5181377" cy="29145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7270" y="1087710"/>
            <a:ext cx="263530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Issues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17270" y="1435224"/>
            <a:ext cx="2635300" cy="2039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Natural-language prompts are often incomplete, ambiguous, or ungrammatical.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Unsafe or malicious prompts can produce harmful outputs or security risks.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 invalid prompts wastes compute and reduces model reliability.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017270" y="3624783"/>
            <a:ext cx="2635300" cy="957039"/>
          </a:xfrm>
          <a:prstGeom prst="roundRect">
            <a:avLst>
              <a:gd name="adj" fmla="val 2153"/>
            </a:avLst>
          </a:prstGeom>
          <a:solidFill>
            <a:srgbClr val="E3E3E8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564" y="3833366"/>
            <a:ext cx="171599" cy="1372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63457" y="3778821"/>
            <a:ext cx="2051819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filter and improve prompts before they reach the AI model.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38238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Goals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1776115"/>
            <a:ext cx="4004965" cy="1043657"/>
          </a:xfrm>
          <a:prstGeom prst="roundRect">
            <a:avLst>
              <a:gd name="adj" fmla="val 2038"/>
            </a:avLst>
          </a:prstGeom>
          <a:solidFill>
            <a:srgbClr val="EDEBE3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1917874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Grammar Safety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2224385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 syntactic correctness via CFG parsing.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776115"/>
            <a:ext cx="4005039" cy="1043657"/>
          </a:xfrm>
          <a:prstGeom prst="roundRect">
            <a:avLst>
              <a:gd name="adj" fmla="val 2038"/>
            </a:avLst>
          </a:prstGeom>
          <a:solidFill>
            <a:srgbClr val="EDEBE3"/>
          </a:solidFill>
          <a:ln/>
        </p:spPr>
      </p:sp>
      <p:sp>
        <p:nvSpPr>
          <p:cNvPr id="7" name="Text 5"/>
          <p:cNvSpPr/>
          <p:nvPr/>
        </p:nvSpPr>
        <p:spPr>
          <a:xfrm>
            <a:off x="4784601" y="1917874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Security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4601" y="2224385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and block harmful intent with DFA-based matching.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2961531"/>
            <a:ext cx="4004965" cy="1043657"/>
          </a:xfrm>
          <a:prstGeom prst="roundRect">
            <a:avLst>
              <a:gd name="adj" fmla="val 2038"/>
            </a:avLst>
          </a:prstGeom>
          <a:solidFill>
            <a:srgbClr val="EDEBE3"/>
          </a:solidFill>
          <a:ln/>
        </p:spPr>
      </p:sp>
      <p:sp>
        <p:nvSpPr>
          <p:cNvPr id="10" name="Text 8"/>
          <p:cNvSpPr/>
          <p:nvPr/>
        </p:nvSpPr>
        <p:spPr>
          <a:xfrm>
            <a:off x="637877" y="3103290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Efficiency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7877" y="3409801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wasted computation by rejecting invalid prompts early.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2961531"/>
            <a:ext cx="4005039" cy="1043657"/>
          </a:xfrm>
          <a:prstGeom prst="roundRect">
            <a:avLst>
              <a:gd name="adj" fmla="val 2038"/>
            </a:avLst>
          </a:prstGeom>
          <a:solidFill>
            <a:srgbClr val="EDEBE3"/>
          </a:solidFill>
          <a:ln/>
        </p:spPr>
      </p:sp>
      <p:sp>
        <p:nvSpPr>
          <p:cNvPr id="13" name="Text 11"/>
          <p:cNvSpPr/>
          <p:nvPr/>
        </p:nvSpPr>
        <p:spPr>
          <a:xfrm>
            <a:off x="4784601" y="3103290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4601" y="3409801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 human-readable validation feedback for users.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48011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High-level Architecture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2514972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Pipeline: User → CFG Prompt Validator → If valid → DFA Safety Analyzer → If safe → Language Model. Immediate, actionable feedback is returned for invalid or unsafe prompts.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1163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Module 1 — CFG Prompt Validation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98984"/>
            <a:ext cx="5177582" cy="291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319882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Responsibilities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1683097"/>
            <a:ext cx="2628230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Prompt Structure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Checks whether the user's prompt follows predefined CFG grammar rules.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Tokenizes the Prompt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Splits the prompt into individual words (tokens) for analysis.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Parses Using CFG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Compares the tokens with grammar production rules to verify syntax.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or Rejects the Prompt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Valid prompts are forwarded to the next module, while invalid prompts are rejected with an error message. </a:t>
            </a:r>
          </a:p>
          <a:p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AI Input Quality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Ensures only well-formed prompts proceed to the safety analysis module, improving reliability and reducing invalid inputs. </a:t>
            </a: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55824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6119" y="356086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81" y="103762"/>
            <a:ext cx="6524017" cy="49157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1956"/>
            <a:ext cx="8151763" cy="34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Module 2 — DFA Safety Analyzer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85813"/>
            <a:ext cx="5181377" cy="29145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7270" y="1087710"/>
            <a:ext cx="263530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Design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17270" y="1435224"/>
            <a:ext cx="2635300" cy="182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automata perform fast keyword and pattern detection.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transitions model escalating suspicion (safe → suspicious → unsafe accept).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Lists of harmful tokens (e.g., hack, exploit, malware, password) mapped to accept states.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017270" y="3408462"/>
            <a:ext cx="2635300" cy="1173361"/>
          </a:xfrm>
          <a:prstGeom prst="roundRect">
            <a:avLst>
              <a:gd name="adj" fmla="val 1756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564" y="3617044"/>
            <a:ext cx="171599" cy="1372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63457" y="3562499"/>
            <a:ext cx="2051819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DFA is intentionally conservative: flagged prompts trigger manual review or blocking depending on policy.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32483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Algorithms — Implementation Details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2245668"/>
            <a:ext cx="70842" cy="70842"/>
          </a:xfrm>
          <a:prstGeom prst="ellipse">
            <a:avLst/>
          </a:prstGeom>
          <a:solidFill>
            <a:srgbClr val="28282F"/>
          </a:solidFill>
          <a:ln/>
        </p:spPr>
      </p:sp>
      <p:sp>
        <p:nvSpPr>
          <p:cNvPr id="4" name="Text 2"/>
          <p:cNvSpPr/>
          <p:nvPr/>
        </p:nvSpPr>
        <p:spPr>
          <a:xfrm>
            <a:off x="708720" y="2170361"/>
            <a:ext cx="23865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CFG Implementation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08720" y="2476872"/>
            <a:ext cx="238653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Python, recursive-descent parser using NLTK/PyParsing. Produces parse trees and human-readable error tokens.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72433" y="2245668"/>
            <a:ext cx="70842" cy="70842"/>
          </a:xfrm>
          <a:prstGeom prst="ellipse">
            <a:avLst/>
          </a:prstGeom>
          <a:solidFill>
            <a:srgbClr val="28282F"/>
          </a:solidFill>
          <a:ln/>
        </p:spPr>
      </p:sp>
      <p:sp>
        <p:nvSpPr>
          <p:cNvPr id="7" name="Text 5"/>
          <p:cNvSpPr/>
          <p:nvPr/>
        </p:nvSpPr>
        <p:spPr>
          <a:xfrm>
            <a:off x="3485034" y="2170361"/>
            <a:ext cx="23865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DFA Implementation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85034" y="2476872"/>
            <a:ext cx="238653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 automata implemented as state machine with linear-time scanning and configurable keyword sets. Integrates with a policy layer for severity thresholds.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48747" y="2245668"/>
            <a:ext cx="70842" cy="70842"/>
          </a:xfrm>
          <a:prstGeom prst="ellipse">
            <a:avLst/>
          </a:prstGeom>
          <a:solidFill>
            <a:srgbClr val="28282F"/>
          </a:solidFill>
          <a:ln/>
        </p:spPr>
      </p:sp>
      <p:sp>
        <p:nvSpPr>
          <p:cNvPr id="10" name="Text 8"/>
          <p:cNvSpPr/>
          <p:nvPr/>
        </p:nvSpPr>
        <p:spPr>
          <a:xfrm>
            <a:off x="6261348" y="2170361"/>
            <a:ext cx="23865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Integration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61348" y="2476872"/>
            <a:ext cx="238653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 REST API: validation endpoints return JSON {status, reason, suggestions, parseTree}. Secure logging and audit trail included.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0841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Evaluation — Sample Results &amp; Metrics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1267271"/>
            <a:ext cx="3902943" cy="3175843"/>
          </a:xfrm>
          <a:prstGeom prst="roundRect">
            <a:avLst>
              <a:gd name="adj" fmla="val 67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272034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2714" y="1361852"/>
            <a:ext cx="2507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81102" y="1361852"/>
            <a:ext cx="17286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0881" y="1678484"/>
            <a:ext cx="3893418" cy="6332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2714" y="1768301"/>
            <a:ext cx="2507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AI basics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81102" y="1768301"/>
            <a:ext cx="12714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 · Safe · Accepted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0881" y="2311747"/>
            <a:ext cx="3893418" cy="8600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2714" y="2401565"/>
            <a:ext cx="2507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report of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81102" y="2401565"/>
            <a:ext cx="127143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Invalid · Syntax error: missing object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0881" y="3171825"/>
            <a:ext cx="3893418" cy="6332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2714" y="3261643"/>
            <a:ext cx="2507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 WiFi password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81102" y="3261643"/>
            <a:ext cx="12714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 · Unsafe · Blocked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0881" y="3805089"/>
            <a:ext cx="3893418" cy="6332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2714" y="3894906"/>
            <a:ext cx="2507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Malware creation steps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81102" y="3894906"/>
            <a:ext cx="12714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 · Unsafe · Blocked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49701" y="1235348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metrics to collect: validation pass rate, false positives/negatives for safety detection, average latency per module, compute saved by early rejection. These guide tuning of CFG breadth and DFA sensitivity.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3487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Conclusions, Limitations &amp; Future Work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1271364"/>
            <a:ext cx="2622724" cy="425276"/>
          </a:xfrm>
          <a:prstGeom prst="roundRect">
            <a:avLst>
              <a:gd name="adj" fmla="val 480029"/>
            </a:avLst>
          </a:prstGeom>
          <a:solidFill>
            <a:srgbClr val="EDEBE3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1838399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2144911"/>
            <a:ext cx="23392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Combining CFG and DFA enforces syntactic quality and filters harmful prompts, improving reliability and security of downstream models.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271364"/>
            <a:ext cx="2622724" cy="425276"/>
          </a:xfrm>
          <a:prstGeom prst="roundRect">
            <a:avLst>
              <a:gd name="adj" fmla="val 480029"/>
            </a:avLst>
          </a:prstGeom>
          <a:solidFill>
            <a:srgbClr val="EDEBE3"/>
          </a:solidFill>
          <a:ln/>
        </p:spPr>
      </p:sp>
      <p:sp>
        <p:nvSpPr>
          <p:cNvPr id="7" name="Text 5"/>
          <p:cNvSpPr/>
          <p:nvPr/>
        </p:nvSpPr>
        <p:spPr>
          <a:xfrm>
            <a:off x="3402360" y="1838399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Limitations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2360" y="2144911"/>
            <a:ext cx="2339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CFGs are brittle for free-form language; DFAs rely on keyword lists and can miss contextual intent or adversarial phrasing.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271364"/>
            <a:ext cx="2622724" cy="425276"/>
          </a:xfrm>
          <a:prstGeom prst="roundRect">
            <a:avLst>
              <a:gd name="adj" fmla="val 480029"/>
            </a:avLst>
          </a:prstGeom>
          <a:solidFill>
            <a:srgbClr val="EDEBE3"/>
          </a:solidFill>
          <a:ln/>
        </p:spPr>
      </p:sp>
      <p:sp>
        <p:nvSpPr>
          <p:cNvPr id="10" name="Text 8"/>
          <p:cNvSpPr/>
          <p:nvPr/>
        </p:nvSpPr>
        <p:spPr>
          <a:xfrm>
            <a:off x="6166842" y="1838399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Future Work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66842" y="2144911"/>
            <a:ext cx="2339206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statistical NLP and ML classifiers for semantic safety, expand multilingual CFGs, add context-aware policies, and evaluate at scale with user studies.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842445"/>
            <a:ext cx="8151763" cy="19050"/>
          </a:xfrm>
          <a:prstGeom prst="roundRect">
            <a:avLst>
              <a:gd name="adj" fmla="val 60000"/>
            </a:avLst>
          </a:prstGeom>
          <a:solidFill>
            <a:srgbClr val="161613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96119" y="405638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References:</a:t>
            </a: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Hopcroft et al., Sipser; NLTK, Python, Flask; prompt engineering guidelines. (Full citations available on request.)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674</Words>
  <Application>Microsoft Office PowerPoint</Application>
  <PresentationFormat>On-screen Show (16:9)</PresentationFormat>
  <Paragraphs>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Inter</vt:lpstr>
      <vt:lpstr>Times New Roman</vt:lpstr>
      <vt:lpstr>Inter Bold</vt:lpstr>
      <vt:lpstr>Arial</vt:lpstr>
      <vt:lpstr>Helvetica Neue</vt:lpstr>
      <vt:lpstr>DM Sans Medium</vt:lpstr>
      <vt:lpstr>Calibri Light</vt:lpstr>
      <vt:lpstr>Calibri</vt:lpstr>
      <vt:lpstr>Office Theme</vt:lpstr>
      <vt:lpstr>Design and Development of an AI Prompt Validation and Safety Analyzer Using Context-Free Grammar and Finite Automata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Srivarsha</dc:creator>
  <cp:lastModifiedBy>Dell</cp:lastModifiedBy>
  <cp:revision>5</cp:revision>
  <dcterms:created xsi:type="dcterms:W3CDTF">2026-07-27T03:14:06Z</dcterms:created>
  <dcterms:modified xsi:type="dcterms:W3CDTF">2026-07-27T04:10:07Z</dcterms:modified>
</cp:coreProperties>
</file>